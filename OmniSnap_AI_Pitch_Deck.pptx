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C0026A-88F1-2D9F-C5FE-72D1C36057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20BA99-D83B-D04E-A0F2-CC0C368DBA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A1FA9-C11E-1DD5-A420-48C8ED1CCC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2BF873-DEC0-0D5D-AC4D-03D15F84DD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F76A6-B1F4-8D40-6A54-3CFCA6A6E4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FEB29-E4A7-2EDA-2002-4302A04B6D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6BD533-4883-AA66-DBC0-6A6B29FF12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357906-8028-D5A5-97E9-C31A0AFF3D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A0C244-CCAE-9AEE-7820-54368871FB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E078D9-6855-1BEB-B078-530DA6E07E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2000">
              <a:schemeClr val="accent2">
                <a:lumMod val="50000"/>
              </a:schemeClr>
            </a:gs>
            <a:gs pos="8000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05829" name="Shape 1998852806"/>
          <p:cNvSpPr/>
          <p:nvPr/>
        </p:nvSpPr>
        <p:spPr bwMode="auto">
          <a:xfrm rot="0" flipH="0" flipV="0">
            <a:off x="0" y="0"/>
            <a:ext cx="12197789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3999"/>
                </a:schemeClr>
              </a:gs>
              <a:gs pos="19000">
                <a:schemeClr val="accent2">
                  <a:lumMod val="50000"/>
                  <a:alpha val="43999"/>
                </a:schemeClr>
              </a:gs>
              <a:gs pos="53000">
                <a:schemeClr val="accent2">
                  <a:lumMod val="75000"/>
                  <a:alpha val="43999"/>
                </a:schemeClr>
              </a:gs>
              <a:gs pos="74000">
                <a:schemeClr val="accent2">
                  <a:lumMod val="50000"/>
                  <a:alpha val="43999"/>
                </a:schemeClr>
              </a:gs>
              <a:gs pos="96000">
                <a:schemeClr val="bg2">
                  <a:lumMod val="10000"/>
                  <a:alpha val="4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pic>
        <p:nvPicPr>
          <p:cNvPr id="1279505745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863" y="0"/>
            <a:ext cx="8915175" cy="6229350"/>
          </a:xfrm>
          <a:prstGeom prst="rect">
            <a:avLst/>
          </a:prstGeom>
        </p:spPr>
      </p:pic>
      <p:sp>
        <p:nvSpPr>
          <p:cNvPr id="1978201053" name=""/>
          <p:cNvSpPr/>
          <p:nvPr/>
        </p:nvSpPr>
        <p:spPr bwMode="auto">
          <a:xfrm flipH="0" flipV="0">
            <a:off x="3668639" y="0"/>
            <a:ext cx="8523053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6000"/>
                </a:schemeClr>
              </a:gs>
              <a:gs pos="19000">
                <a:schemeClr val="accent2">
                  <a:lumMod val="50000"/>
                  <a:alpha val="66000"/>
                </a:schemeClr>
              </a:gs>
              <a:gs pos="53000">
                <a:schemeClr val="accent2">
                  <a:lumMod val="75000"/>
                  <a:alpha val="66000"/>
                </a:schemeClr>
              </a:gs>
              <a:gs pos="74000">
                <a:schemeClr val="accent2">
                  <a:lumMod val="50000"/>
                  <a:alpha val="66000"/>
                </a:schemeClr>
              </a:gs>
              <a:gs pos="96000">
                <a:schemeClr val="bg2">
                  <a:lumMod val="10000"/>
                  <a:alpha val="66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89571582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26" y="3429000"/>
            <a:ext cx="7315016" cy="1494752"/>
          </a:xfrm>
        </p:spPr>
        <p:txBody>
          <a:bodyPr anchor="b"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493003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76" y="4942803"/>
            <a:ext cx="7315016" cy="909428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139216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660302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5381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670180794" name=""/>
          <p:cNvSpPr/>
          <p:nvPr/>
        </p:nvSpPr>
        <p:spPr bwMode="auto">
          <a:xfrm rot="0" flipH="0" flipV="0">
            <a:off x="7370293" y="3545847"/>
            <a:ext cx="630511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5713437" name=""/>
          <p:cNvSpPr/>
          <p:nvPr/>
        </p:nvSpPr>
        <p:spPr bwMode="auto">
          <a:xfrm rot="8915418" flipH="0" flipV="0">
            <a:off x="6783693" y="2871367"/>
            <a:ext cx="266881" cy="266887"/>
          </a:xfrm>
          <a:prstGeom prst="ellipse">
            <a:avLst/>
          </a:prstGeom>
          <a:gradFill>
            <a:gsLst>
              <a:gs pos="0">
                <a:schemeClr val="accent3">
                  <a:lumMod val="50000"/>
                  <a:alpha val="70000"/>
                </a:schemeClr>
              </a:gs>
              <a:gs pos="61000">
                <a:schemeClr val="accent1">
                  <a:lumMod val="50000"/>
                  <a:alpha val="7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840169" name=""/>
          <p:cNvSpPr/>
          <p:nvPr/>
        </p:nvSpPr>
        <p:spPr bwMode="auto">
          <a:xfrm rot="8915418" flipH="0" flipV="0">
            <a:off x="985425" y="853132"/>
            <a:ext cx="394724" cy="39473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9999"/>
                </a:schemeClr>
              </a:gs>
              <a:gs pos="100000">
                <a:schemeClr val="accent1">
                  <a:lumMod val="5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9286606" name=""/>
          <p:cNvPicPr>
            <a:picLocks noChangeAspect="1"/>
          </p:cNvPicPr>
          <p:nvPr/>
        </p:nvPicPr>
        <p:blipFill rotWithShape="1">
          <a:blip r:embed="rId3">
            <a:alphaModFix amt="33999"/>
          </a:blip>
          <a:stretch/>
        </p:blipFill>
        <p:spPr bwMode="auto">
          <a:xfrm flipH="0" flipV="0">
            <a:off x="5901206" y="0"/>
            <a:ext cx="6290487" cy="5619748"/>
          </a:xfrm>
          <a:prstGeom prst="rect">
            <a:avLst/>
          </a:prstGeom>
        </p:spPr>
      </p:pic>
      <p:grpSp>
        <p:nvGrpSpPr>
          <p:cNvPr id="2007135651" name=""/>
          <p:cNvGrpSpPr/>
          <p:nvPr/>
        </p:nvGrpSpPr>
        <p:grpSpPr bwMode="auto">
          <a:xfrm>
            <a:off x="6436273" y="0"/>
            <a:ext cx="5755419" cy="5185485"/>
            <a:chOff x="0" y="0"/>
            <a:chExt cx="5755419" cy="5185485"/>
          </a:xfrm>
        </p:grpSpPr>
        <p:sp>
          <p:nvSpPr>
            <p:cNvPr id="1645673733" name=""/>
            <p:cNvSpPr/>
            <p:nvPr/>
          </p:nvSpPr>
          <p:spPr bwMode="auto">
            <a:xfrm>
              <a:off x="0" y="0"/>
              <a:ext cx="5755419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4000">
                  <a:schemeClr val="accent2">
                    <a:lumMod val="75000"/>
                    <a:alpha val="99999"/>
                  </a:schemeClr>
                </a:gs>
                <a:gs pos="44000">
                  <a:schemeClr val="accent2">
                    <a:lumMod val="50000"/>
                    <a:alpha val="99999"/>
                  </a:schemeClr>
                </a:gs>
                <a:gs pos="96000">
                  <a:schemeClr val="bg2">
                    <a:lumMod val="10000"/>
                    <a:alpha val="99999"/>
                  </a:schemeClr>
                </a:gs>
              </a:gsLst>
              <a:lin ang="102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8680612" name=""/>
            <p:cNvSpPr/>
            <p:nvPr/>
          </p:nvSpPr>
          <p:spPr bwMode="auto">
            <a:xfrm>
              <a:off x="0" y="0"/>
              <a:ext cx="5755419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15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02637702" name=""/>
            <p:cNvSpPr/>
            <p:nvPr/>
          </p:nvSpPr>
          <p:spPr bwMode="auto">
            <a:xfrm>
              <a:off x="0" y="0"/>
              <a:ext cx="5755419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2049971112" name=""/>
            <p:cNvSpPr/>
            <p:nvPr/>
          </p:nvSpPr>
          <p:spPr bwMode="auto">
            <a:xfrm>
              <a:off x="0" y="0"/>
              <a:ext cx="5755419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12000">
                  <a:schemeClr val="accent2">
                    <a:lumMod val="40000"/>
                    <a:lumOff val="60000"/>
                    <a:alpha val="42000"/>
                  </a:schemeClr>
                </a:gs>
                <a:gs pos="82000">
                  <a:schemeClr val="accent2">
                    <a:lumMod val="50000"/>
                    <a:alpha val="42000"/>
                  </a:schemeClr>
                </a:gs>
                <a:gs pos="96000">
                  <a:schemeClr val="bg2">
                    <a:lumMod val="10000"/>
                    <a:alpha val="42000"/>
                  </a:schemeClr>
                </a:gs>
              </a:gsLst>
              <a:lin ang="177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396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21960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55736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26632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5444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26769508" name=""/>
          <p:cNvSpPr/>
          <p:nvPr/>
        </p:nvSpPr>
        <p:spPr bwMode="auto">
          <a:xfrm rot="5399976" flipH="0" flipV="0">
            <a:off x="2666336" y="-2667613"/>
            <a:ext cx="6879557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24999"/>
                </a:schemeClr>
              </a:gs>
              <a:gs pos="19000">
                <a:schemeClr val="accent2">
                  <a:lumMod val="50000"/>
                  <a:alpha val="24999"/>
                </a:schemeClr>
              </a:gs>
              <a:gs pos="53000">
                <a:schemeClr val="accent2">
                  <a:lumMod val="75000"/>
                  <a:alpha val="24999"/>
                </a:schemeClr>
              </a:gs>
              <a:gs pos="74000">
                <a:schemeClr val="accent2">
                  <a:lumMod val="50000"/>
                  <a:alpha val="24999"/>
                </a:schemeClr>
              </a:gs>
              <a:gs pos="96000">
                <a:schemeClr val="bg2">
                  <a:lumMod val="10000"/>
                  <a:alpha val="2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479309" name=""/>
          <p:cNvSpPr/>
          <p:nvPr/>
        </p:nvSpPr>
        <p:spPr bwMode="auto">
          <a:xfrm rot="0" flipH="0" flipV="0">
            <a:off x="10887477" y="1168398"/>
            <a:ext cx="630510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2202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27" y="4928616"/>
            <a:ext cx="7324413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597438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5590942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1327302" y="0"/>
            <a:ext cx="10864389" cy="6089648"/>
          </a:xfrm>
          <a:prstGeom prst="rect">
            <a:avLst/>
          </a:prstGeom>
          <a:ln w="12700">
            <a:noFill/>
          </a:ln>
        </p:spPr>
      </p:pic>
      <p:sp>
        <p:nvSpPr>
          <p:cNvPr id="1676598618" name=""/>
          <p:cNvSpPr/>
          <p:nvPr/>
        </p:nvSpPr>
        <p:spPr bwMode="auto">
          <a:xfrm flipH="0" flipV="0">
            <a:off x="1451537" y="0"/>
            <a:ext cx="10740152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0000"/>
                </a:schemeClr>
              </a:gs>
              <a:gs pos="19000">
                <a:schemeClr val="accent2">
                  <a:lumMod val="50000"/>
                  <a:alpha val="60000"/>
                </a:schemeClr>
              </a:gs>
              <a:gs pos="63000">
                <a:schemeClr val="accent2">
                  <a:lumMod val="50000"/>
                  <a:alpha val="60000"/>
                </a:schemeClr>
              </a:gs>
              <a:gs pos="96000">
                <a:schemeClr val="bg2">
                  <a:lumMod val="10000"/>
                  <a:alpha val="60000"/>
                </a:schemeClr>
              </a:gs>
            </a:gsLst>
            <a:lin ang="96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37903987" name=""/>
          <p:cNvSpPr/>
          <p:nvPr/>
        </p:nvSpPr>
        <p:spPr bwMode="auto">
          <a:xfrm rot="8915418" flipH="0" flipV="0">
            <a:off x="420497" y="961043"/>
            <a:ext cx="394723" cy="39473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30000"/>
                </a:schemeClr>
              </a:gs>
              <a:gs pos="100000">
                <a:schemeClr val="accent1">
                  <a:lumMod val="5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51524" name=""/>
          <p:cNvSpPr/>
          <p:nvPr/>
        </p:nvSpPr>
        <p:spPr bwMode="auto">
          <a:xfrm rot="0" flipH="0" flipV="0">
            <a:off x="552274" y="3044823"/>
            <a:ext cx="630511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594015" name=""/>
          <p:cNvSpPr/>
          <p:nvPr/>
        </p:nvSpPr>
        <p:spPr bwMode="auto">
          <a:xfrm rot="1379112" flipH="0" flipV="0">
            <a:off x="1533221" y="2627385"/>
            <a:ext cx="276729" cy="27673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015233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26" y="3429000"/>
            <a:ext cx="7315016" cy="149961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5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5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5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5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5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5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5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5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</a:t>
            </a:r>
            <a:endParaRPr/>
          </a:p>
        </p:txBody>
      </p:sp>
      <p:sp>
        <p:nvSpPr>
          <p:cNvPr id="21304106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27" y="4928616"/>
            <a:ext cx="7324413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33338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825114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840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1">
                <a:lumMod val="50000"/>
              </a:schemeClr>
            </a:gs>
            <a:gs pos="42000">
              <a:schemeClr val="accent2">
                <a:lumMod val="50000"/>
              </a:schemeClr>
            </a:gs>
            <a:gs pos="100000">
              <a:schemeClr val="accent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370053" name=""/>
          <p:cNvSpPr/>
          <p:nvPr/>
        </p:nvSpPr>
        <p:spPr bwMode="auto">
          <a:xfrm rot="6613455" flipH="0" flipV="0">
            <a:off x="568904" y="5506504"/>
            <a:ext cx="597548" cy="59756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332518" name=""/>
          <p:cNvSpPr/>
          <p:nvPr/>
        </p:nvSpPr>
        <p:spPr bwMode="auto">
          <a:xfrm rot="0" flipH="0" flipV="0">
            <a:off x="8314734" y="0"/>
            <a:ext cx="3876958" cy="6858000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22000">
                <a:schemeClr val="accent2">
                  <a:lumMod val="50000"/>
                  <a:alpha val="42000"/>
                </a:schemeClr>
              </a:gs>
              <a:gs pos="74000">
                <a:schemeClr val="accent2">
                  <a:lumMod val="75000"/>
                  <a:alpha val="42000"/>
                </a:schemeClr>
              </a:gs>
              <a:gs pos="100000">
                <a:schemeClr val="accent3">
                  <a:lumMod val="75000"/>
                  <a:alpha val="4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12868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639354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79" y="1825624"/>
            <a:ext cx="518147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558575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045" y="1825624"/>
            <a:ext cx="518147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52003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758494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66490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156085187" name=""/>
          <p:cNvSpPr/>
          <p:nvPr/>
        </p:nvSpPr>
        <p:spPr bwMode="auto">
          <a:xfrm rot="8070705" flipH="0" flipV="0">
            <a:off x="2033031" y="5000095"/>
            <a:ext cx="349215" cy="34922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2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161818" name=""/>
          <p:cNvSpPr/>
          <p:nvPr/>
        </p:nvSpPr>
        <p:spPr bwMode="auto">
          <a:xfrm rot="5399976" flipH="0" flipV="0">
            <a:off x="2666336" y="-2667612"/>
            <a:ext cx="6879557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0000"/>
                </a:schemeClr>
              </a:gs>
              <a:gs pos="19000">
                <a:schemeClr val="accent2">
                  <a:lumMod val="50000"/>
                  <a:alpha val="40000"/>
                </a:schemeClr>
              </a:gs>
              <a:gs pos="46000">
                <a:schemeClr val="accent2">
                  <a:lumMod val="50000"/>
                  <a:alpha val="40000"/>
                </a:schemeClr>
              </a:gs>
              <a:gs pos="63000">
                <a:schemeClr val="accent2">
                  <a:lumMod val="50000"/>
                  <a:alpha val="40000"/>
                </a:schemeClr>
              </a:gs>
              <a:gs pos="96000">
                <a:schemeClr val="bg2">
                  <a:lumMod val="1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348529" name="Title 1"/>
          <p:cNvSpPr>
            <a:spLocks noGrp="1"/>
          </p:cNvSpPr>
          <p:nvPr>
            <p:ph type="title"/>
          </p:nvPr>
        </p:nvSpPr>
        <p:spPr bwMode="auto">
          <a:xfrm>
            <a:off x="839766" y="365124"/>
            <a:ext cx="10515336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6057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66" y="1681162"/>
            <a:ext cx="5157657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36887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66" y="2505073"/>
            <a:ext cx="515765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390115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045" y="1681162"/>
            <a:ext cx="5183058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8549603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045" y="2505073"/>
            <a:ext cx="5183058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98307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990801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6231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0700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43340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284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18786955" name=""/>
          <p:cNvSpPr/>
          <p:nvPr/>
        </p:nvSpPr>
        <p:spPr bwMode="auto">
          <a:xfrm flipH="1" flipV="0">
            <a:off x="0" y="0"/>
            <a:ext cx="6849840" cy="6687496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4000">
                <a:schemeClr val="accent2">
                  <a:lumMod val="50000"/>
                  <a:alpha val="40000"/>
                </a:schemeClr>
              </a:gs>
              <a:gs pos="33000">
                <a:schemeClr val="accent1">
                  <a:lumMod val="50000"/>
                  <a:alpha val="40000"/>
                </a:schemeClr>
              </a:gs>
              <a:gs pos="74000">
                <a:schemeClr val="accent2">
                  <a:lumMod val="50000"/>
                  <a:alpha val="40000"/>
                </a:schemeClr>
              </a:gs>
              <a:gs pos="100000">
                <a:schemeClr val="accent3">
                  <a:lumMod val="75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21961486" name=""/>
          <p:cNvSpPr/>
          <p:nvPr/>
        </p:nvSpPr>
        <p:spPr bwMode="auto">
          <a:xfrm rot="6613455" flipH="0" flipV="0">
            <a:off x="251861" y="297216"/>
            <a:ext cx="513402" cy="51341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6586179" name="Title 1"/>
          <p:cNvSpPr>
            <a:spLocks noGrp="1"/>
          </p:cNvSpPr>
          <p:nvPr>
            <p:ph type="title"/>
          </p:nvPr>
        </p:nvSpPr>
        <p:spPr bwMode="auto">
          <a:xfrm>
            <a:off x="839766" y="457200"/>
            <a:ext cx="3932138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</a:t>
            </a:r>
            <a:endParaRPr/>
          </a:p>
        </p:txBody>
      </p:sp>
      <p:sp>
        <p:nvSpPr>
          <p:cNvPr id="5536829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66" y="2057400"/>
            <a:ext cx="3932138" cy="381158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868404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057" y="457198"/>
            <a:ext cx="6172045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822155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861" y="0"/>
            <a:ext cx="8915174" cy="6229350"/>
          </a:xfrm>
          <a:prstGeom prst="rect">
            <a:avLst/>
          </a:prstGeom>
          <a:ln w="12700">
            <a:noFill/>
          </a:ln>
        </p:spPr>
      </p:pic>
      <p:sp>
        <p:nvSpPr>
          <p:cNvPr id="1185792402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25" y="3429000"/>
            <a:ext cx="7311967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922303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673142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608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835405485" name="Shape 1998852806"/>
          <p:cNvSpPr/>
          <p:nvPr/>
        </p:nvSpPr>
        <p:spPr bwMode="auto">
          <a:xfrm rot="0" flipH="0" flipV="0">
            <a:off x="0" y="0"/>
            <a:ext cx="12197788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0000"/>
                </a:schemeClr>
              </a:gs>
              <a:gs pos="15000">
                <a:schemeClr val="accent3">
                  <a:lumMod val="75000"/>
                  <a:alpha val="30000"/>
                </a:schemeClr>
              </a:gs>
              <a:gs pos="32000">
                <a:schemeClr val="accent2">
                  <a:lumMod val="50000"/>
                  <a:alpha val="30000"/>
                </a:schemeClr>
              </a:gs>
              <a:gs pos="69000">
                <a:schemeClr val="accent2">
                  <a:lumMod val="50000"/>
                  <a:alpha val="30000"/>
                </a:schemeClr>
              </a:gs>
              <a:gs pos="96000">
                <a:schemeClr val="bg2">
                  <a:lumMod val="10000"/>
                  <a:alpha val="30000"/>
                </a:schemeClr>
              </a:gs>
            </a:gsLst>
            <a:lin ang="20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05356545" name=""/>
          <p:cNvSpPr/>
          <p:nvPr/>
        </p:nvSpPr>
        <p:spPr bwMode="auto">
          <a:xfrm flipH="0" flipV="0">
            <a:off x="3668637" y="0"/>
            <a:ext cx="8523052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1999"/>
                </a:schemeClr>
              </a:gs>
              <a:gs pos="19000">
                <a:schemeClr val="accent2">
                  <a:lumMod val="50000"/>
                  <a:alpha val="31999"/>
                </a:schemeClr>
              </a:gs>
              <a:gs pos="31000">
                <a:schemeClr val="accent3">
                  <a:lumMod val="75000"/>
                  <a:alpha val="31999"/>
                </a:schemeClr>
              </a:gs>
              <a:gs pos="53000">
                <a:schemeClr val="accent2">
                  <a:lumMod val="50000"/>
                  <a:alpha val="31999"/>
                </a:schemeClr>
              </a:gs>
              <a:gs pos="80000">
                <a:schemeClr val="accent2">
                  <a:lumMod val="50000"/>
                  <a:alpha val="31999"/>
                </a:schemeClr>
              </a:gs>
              <a:gs pos="100000">
                <a:schemeClr val="tx2">
                  <a:lumMod val="75000"/>
                  <a:alpha val="31999"/>
                </a:schemeClr>
              </a:gs>
            </a:gsLst>
            <a:lin ang="19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03223690" name=""/>
          <p:cNvSpPr/>
          <p:nvPr/>
        </p:nvSpPr>
        <p:spPr bwMode="auto">
          <a:xfrm rot="1608855" flipH="0" flipV="0">
            <a:off x="522922" y="1578480"/>
            <a:ext cx="630510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4247166" name=""/>
          <p:cNvSpPr/>
          <p:nvPr/>
        </p:nvSpPr>
        <p:spPr bwMode="auto">
          <a:xfrm rot="17382832" flipH="0" flipV="0">
            <a:off x="1318312" y="2482165"/>
            <a:ext cx="405906" cy="40591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566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8832910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6961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513856" name="Title 1"/>
          <p:cNvSpPr>
            <a:spLocks noGrp="1"/>
          </p:cNvSpPr>
          <p:nvPr>
            <p:ph type="title"/>
          </p:nvPr>
        </p:nvSpPr>
        <p:spPr bwMode="auto">
          <a:xfrm>
            <a:off x="839766" y="457200"/>
            <a:ext cx="3932138" cy="1600200"/>
          </a:xfrm>
        </p:spPr>
        <p:txBody>
          <a:bodyPr anchor="b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86705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057" y="457198"/>
            <a:ext cx="6172045" cy="54038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45731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66" y="2057400"/>
            <a:ext cx="3932138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064456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09542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7031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40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657633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0295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543433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366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1443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681" y="365124"/>
            <a:ext cx="2628834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3921146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79" y="365124"/>
            <a:ext cx="7734106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537148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613688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3983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0954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179" y="365124"/>
            <a:ext cx="10515336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4306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79" y="1825624"/>
            <a:ext cx="105153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512200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79" y="6356349"/>
            <a:ext cx="2743131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24462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498" y="6356349"/>
            <a:ext cx="4114697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8170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384" y="6356349"/>
            <a:ext cx="2743131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813095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baseline="30000"/>
          </a:p>
        </p:txBody>
      </p:sp>
      <p:sp>
        <p:nvSpPr>
          <p:cNvPr id="975583666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563531459" name="TextBox 3"/>
          <p:cNvSpPr txBox="1"/>
          <p:nvPr/>
        </p:nvSpPr>
        <p:spPr bwMode="auto">
          <a:xfrm>
            <a:off x="374161" y="1190717"/>
            <a:ext cx="11447690" cy="23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rPr sz="3600">
                <a:latin typeface="Times New Roman"/>
                <a:ea typeface="Times New Roman"/>
                <a:cs typeface="Times New Roman"/>
              </a:rPr>
              <a:t>QUALCOMM SNAPDRAGON® AI LAB CHALLENGE</a:t>
            </a:r>
            <a:br>
              <a:rPr sz="3600">
                <a:latin typeface="Times New Roman"/>
                <a:ea typeface="Times New Roman"/>
                <a:cs typeface="Times New Roman"/>
              </a:rPr>
            </a:br>
            <a:r>
              <a:rPr sz="3600">
                <a:latin typeface="Times New Roman"/>
                <a:ea typeface="Times New Roman"/>
                <a:cs typeface="Times New Roman"/>
              </a:rPr>
              <a:t>OmniSnap AI</a:t>
            </a:r>
            <a:endParaRPr sz="3600">
              <a:latin typeface="Times New Roman"/>
              <a:cs typeface="Times New Roman"/>
            </a:endParaRP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rPr sz="2200">
                <a:latin typeface="Times New Roman"/>
                <a:ea typeface="Times New Roman"/>
                <a:cs typeface="Times New Roman"/>
              </a:rPr>
              <a:t>Zero-Cloud Autonomous Multimodal Copilot &amp; Privacy Intelligence for Snapdragon®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1999"/>
              </a:spcBef>
              <a:defRPr sz="2400">
                <a:solidFill>
                  <a:srgbClr val="FFFFFF"/>
                </a:solidFill>
              </a:defRPr>
            </a:pPr>
            <a:r>
              <a:rPr sz="2200">
                <a:latin typeface="Times New Roman"/>
                <a:ea typeface="Times New Roman"/>
                <a:cs typeface="Times New Roman"/>
              </a:rPr>
              <a:t>-Powered HP OmniBook PCs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4395399" name="TextBox 4"/>
          <p:cNvSpPr txBox="1"/>
          <p:nvPr/>
        </p:nvSpPr>
        <p:spPr bwMode="auto">
          <a:xfrm>
            <a:off x="1371600" y="4114800"/>
            <a:ext cx="8656359" cy="1981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defRPr sz="18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Accelerated by Qualcomm Hexagon NPU (45 TOPS) via QNN Execution Provider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defRPr sz="18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Heterogeneous Qualcomm AI Hub Models: Whisper, Llama-3.2, YOLOv11 &amp; Local RAG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defRPr sz="18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100% Air-Gapped Privacy • 22.5hr Continuous AI Battery on HP OmniBook</a:t>
            </a:r>
            <a:endParaRPr>
              <a:latin typeface="Times New Roman"/>
              <a:cs typeface="Times New Roman"/>
            </a:endParaRPr>
          </a:p>
          <a:p>
            <a:pPr algn="ctr">
              <a:defRPr sz="1600" i="1">
                <a:solidFill>
                  <a:srgbClr val="00D4FF"/>
                </a:solidFill>
              </a:defRPr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>
                <a:latin typeface="Times New Roman"/>
                <a:ea typeface="Times New Roman"/>
                <a:cs typeface="Times New Roman"/>
              </a:rPr>
              <a:t>Submitted by: Anurag Kannojiya | Target Platform: HP OmniBook X / Ultra (Snapdragon X Elite)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274387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251196" name="TextBox 2"/>
          <p:cNvSpPr txBox="1"/>
          <p:nvPr/>
        </p:nvSpPr>
        <p:spPr bwMode="auto">
          <a:xfrm>
            <a:off x="3168013" y="6400800"/>
            <a:ext cx="585854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/>
              <a:t>Qualcomm Snapdragon® AI Lab Build &amp; Present Challenge • Solution Submission • September 2026</a:t>
            </a:r>
            <a:endParaRPr/>
          </a:p>
        </p:txBody>
      </p:sp>
      <p:sp>
        <p:nvSpPr>
          <p:cNvPr id="885761148" name="TextBox 3"/>
          <p:cNvSpPr txBox="1"/>
          <p:nvPr/>
        </p:nvSpPr>
        <p:spPr bwMode="auto">
          <a:xfrm>
            <a:off x="280460" y="365760"/>
            <a:ext cx="11863578" cy="627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 sz="3500"/>
              <a:t>The </a:t>
            </a:r>
            <a:r>
              <a:rPr sz="3500">
                <a:latin typeface="Times New Roman"/>
                <a:ea typeface="Times New Roman"/>
                <a:cs typeface="Times New Roman"/>
              </a:rPr>
              <a:t>Problem</a:t>
            </a:r>
            <a:r>
              <a:rPr sz="3500"/>
              <a:t>: Why Cloud AI Fails Modern PC Workflows</a:t>
            </a:r>
            <a:endParaRPr sz="3500"/>
          </a:p>
        </p:txBody>
      </p:sp>
      <p:sp>
        <p:nvSpPr>
          <p:cNvPr id="1078343368" name="Rounded Rectangle 4"/>
          <p:cNvSpPr/>
          <p:nvPr/>
        </p:nvSpPr>
        <p:spPr bwMode="auto">
          <a:xfrm>
            <a:off x="54864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Cloud Latency &amp; Jitter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250ms-1000ms+ round-trip latency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27750710" name="Rounded Rectangle 5"/>
          <p:cNvSpPr/>
          <p:nvPr/>
        </p:nvSpPr>
        <p:spPr bwMode="auto">
          <a:xfrm>
            <a:off x="338328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Corporate Data &amp; IP Leaks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Streaming confidential data to 3rd-party LLM clouds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33106020" name="Rounded Rectangle 6"/>
          <p:cNvSpPr/>
          <p:nvPr/>
        </p:nvSpPr>
        <p:spPr bwMode="auto">
          <a:xfrm>
            <a:off x="621792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Battery Drain &amp; Thermals on x86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35W-65W consuming AI, 3hr battery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04520791" name="Rounded Rectangle 7"/>
          <p:cNvSpPr/>
          <p:nvPr/>
        </p:nvSpPr>
        <p:spPr bwMode="auto">
          <a:xfrm>
            <a:off x="905256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Recurring Cost &amp; Offline Failure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$20-30/seat/mo, dead offline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611343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1338557" name="TextBox 2"/>
          <p:cNvSpPr txBox="1"/>
          <p:nvPr/>
        </p:nvSpPr>
        <p:spPr bwMode="auto">
          <a:xfrm>
            <a:off x="3168013" y="6400800"/>
            <a:ext cx="585854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/>
              <a:t>Qualcomm Snapdragon® AI Lab Build &amp; Present Challenge • Solution Submission • September 2026</a:t>
            </a:r>
            <a:endParaRPr/>
          </a:p>
        </p:txBody>
      </p:sp>
      <p:sp>
        <p:nvSpPr>
          <p:cNvPr id="672807558" name="TextBox 3"/>
          <p:cNvSpPr txBox="1"/>
          <p:nvPr/>
        </p:nvSpPr>
        <p:spPr bwMode="auto">
          <a:xfrm flipH="0" flipV="0">
            <a:off x="261965" y="596949"/>
            <a:ext cx="11783640" cy="59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 sz="3300">
                <a:latin typeface="Times New Roman"/>
                <a:ea typeface="Times New Roman"/>
                <a:cs typeface="Times New Roman"/>
              </a:rPr>
              <a:t>The </a:t>
            </a:r>
            <a:r>
              <a:rPr sz="3300">
                <a:latin typeface="Times New Roman"/>
                <a:ea typeface="Times New Roman"/>
                <a:cs typeface="Times New Roman"/>
              </a:rPr>
              <a:t>Solution</a:t>
            </a:r>
            <a:r>
              <a:rPr sz="3300">
                <a:latin typeface="Times New Roman"/>
                <a:ea typeface="Times New Roman"/>
                <a:cs typeface="Times New Roman"/>
              </a:rPr>
              <a:t>: OmniSnap AI — Zero-Cloud Multimodal Copilot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52909131" name="Rounded Rectangle 4"/>
          <p:cNvSpPr/>
          <p:nvPr/>
        </p:nvSpPr>
        <p:spPr bwMode="auto">
          <a:xfrm>
            <a:off x="54864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 100% On-Device Hexagon NPU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45 TOPS, sub-12ms speech, sub-30ms LLM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35190171" name="Rounded Rectangle 5"/>
          <p:cNvSpPr/>
          <p:nvPr/>
        </p:nvSpPr>
        <p:spPr bwMode="auto">
          <a:xfrm>
            <a:off x="338328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 Qualcomm AI Hub Model Zoo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Pre-compiled INT4/INT8 models for QNN EP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26647684" name="Rounded Rectangle 6"/>
          <p:cNvSpPr/>
          <p:nvPr/>
        </p:nvSpPr>
        <p:spPr bwMode="auto">
          <a:xfrm>
            <a:off x="621792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True Air-Gapped Privacy Guard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Zero bytes leave device, PII scrubbing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82775401" name="Rounded Rectangle 7"/>
          <p:cNvSpPr/>
          <p:nvPr/>
        </p:nvSpPr>
        <p:spPr bwMode="auto">
          <a:xfrm>
            <a:off x="905256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Ultra-Low 3.8W Thermal Env.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22.5hr battery, whisper-quiet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104108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3980920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23473982" name="TextBox 3"/>
          <p:cNvSpPr txBox="1"/>
          <p:nvPr/>
        </p:nvSpPr>
        <p:spPr bwMode="auto">
          <a:xfrm>
            <a:off x="548640" y="365760"/>
            <a:ext cx="10532621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System Architecture: Qualcomm AI Hub Integration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18200997" name="Rounded Rectangle 4"/>
          <p:cNvSpPr/>
          <p:nvPr/>
        </p:nvSpPr>
        <p:spPr bwMode="auto">
          <a:xfrm>
            <a:off x="54864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Whisper-Base ASR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Source: Qualcomm AI Hub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Quant: W8A16 QNN HTP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Role: Real-time ASR &amp; meeting diarization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Latency: 11.8 ms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29699656" name="Rounded Rectangle 5"/>
          <p:cNvSpPr/>
          <p:nvPr/>
        </p:nvSpPr>
        <p:spPr bwMode="auto">
          <a:xfrm>
            <a:off x="338328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Llama-3.2-3B Instruct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Source: Qualcomm AI Hub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Quant: W4A16 QNN HTP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Role: Autonomous reasoning &amp; task execution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Latency: 28.5 ms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61018492" name="Rounded Rectangle 6"/>
          <p:cNvSpPr/>
          <p:nvPr/>
        </p:nvSpPr>
        <p:spPr bwMode="auto">
          <a:xfrm>
            <a:off x="621792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YOLOv11-Nano Vision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Source: Qualcomm AI Hub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Quant: W8A8 QNN HTP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Role: Screen analysis &amp; confidential detection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Latency: 4.2 ms (238 FPS)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75371383" name="Rounded Rectangle 7"/>
          <p:cNvSpPr/>
          <p:nvPr/>
        </p:nvSpPr>
        <p:spPr bwMode="auto">
          <a:xfrm>
            <a:off x="905256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all-MiniLM-L6-v2 RAG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Source: Qualcomm AI Hub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Quant: W8A16 ONNX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Role: Air-gapped semantic search &amp; RAG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Latency: 6.2 ms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21627515" name="TextBox 8"/>
          <p:cNvSpPr txBox="1"/>
          <p:nvPr/>
        </p:nvSpPr>
        <p:spPr bwMode="auto">
          <a:xfrm>
            <a:off x="523630" y="5303520"/>
            <a:ext cx="11147673" cy="396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Pipeline: QNN HTP Backend → ONNX Runtime QNNExecutionProvider → Hexagon 45 TOPS NPU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068144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276548146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35033524" name="TextBox 3"/>
          <p:cNvSpPr txBox="1"/>
          <p:nvPr/>
        </p:nvSpPr>
        <p:spPr bwMode="auto">
          <a:xfrm>
            <a:off x="548640" y="365760"/>
            <a:ext cx="9871603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Core Features: Complete Edge Productivity Suite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24230069" name="Rounded Rectangle 4"/>
          <p:cNvSpPr/>
          <p:nvPr/>
        </p:nvSpPr>
        <p:spPr bwMode="auto">
          <a:xfrm>
            <a:off x="54864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Real-Time Meeting Scribe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Whisper on Hexagon NPU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Extracts action items &amp; decisions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28876264" name="Rounded Rectangle 5"/>
          <p:cNvSpPr/>
          <p:nvPr/>
        </p:nvSpPr>
        <p:spPr bwMode="auto">
          <a:xfrm>
            <a:off x="338328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Hexagon Reasoning Copilot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Sub-30ms Llama-3.2-3B INT4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Drafts briefs, refactors code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184585" name="Rounded Rectangle 6"/>
          <p:cNvSpPr/>
          <p:nvPr/>
        </p:nvSpPr>
        <p:spPr bwMode="auto">
          <a:xfrm>
            <a:off x="621792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Air-Gapped Document RAG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Encrypted vector DB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Sub-7ms semantic search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99547018" name="Rounded Rectangle 7"/>
          <p:cNvSpPr/>
          <p:nvPr/>
        </p:nvSpPr>
        <p:spPr bwMode="auto">
          <a:xfrm>
            <a:off x="905256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Screen Guard &amp; Vision Inspector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YOLOv11-Nano at 238 FPS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PII alerts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924529" name="Rectangle 1"/>
          <p:cNvSpPr/>
          <p:nvPr/>
        </p:nvSpPr>
        <p:spPr bwMode="auto">
          <a:xfrm flipH="0" flipV="0">
            <a:off x="65206" y="46237"/>
            <a:ext cx="12061282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921686750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44849496" name="TextBox 3"/>
          <p:cNvSpPr txBox="1"/>
          <p:nvPr/>
        </p:nvSpPr>
        <p:spPr bwMode="auto">
          <a:xfrm>
            <a:off x="253095" y="485978"/>
            <a:ext cx="12224817" cy="609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 sz="3400">
                <a:latin typeface="Times New Roman"/>
                <a:ea typeface="Times New Roman"/>
                <a:cs typeface="Times New Roman"/>
              </a:rPr>
              <a:t>Hardware Synergy: Optimized for Snapdragon-Powered HP PCs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580420460" name="Rounded Rectangle 4"/>
          <p:cNvSpPr/>
          <p:nvPr/>
        </p:nvSpPr>
        <p:spPr bwMode="auto">
          <a:xfrm>
            <a:off x="54864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45 Peak NPU TOPS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Multi-model concurrent execution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00667568" name="Rounded Rectangle 5"/>
          <p:cNvSpPr/>
          <p:nvPr/>
        </p:nvSpPr>
        <p:spPr bwMode="auto">
          <a:xfrm>
            <a:off x="338328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22.5 Hours AI Battery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3.8W vs 38.5W on x86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125980101" name="Rounded Rectangle 6"/>
          <p:cNvSpPr/>
          <p:nvPr/>
        </p:nvSpPr>
        <p:spPr bwMode="auto">
          <a:xfrm>
            <a:off x="621792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Whisper-Quiet Thermals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&lt;18 dBA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Zero thermal throttling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27191843" name="Rounded Rectangle 7"/>
          <p:cNvSpPr/>
          <p:nvPr/>
        </p:nvSpPr>
        <p:spPr bwMode="auto">
          <a:xfrm>
            <a:off x="905256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Windows on ARM Native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QNN HTP DLLs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DirectML fallbacks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717351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745745256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27716651" name="TextBox 3"/>
          <p:cNvSpPr txBox="1"/>
          <p:nvPr/>
        </p:nvSpPr>
        <p:spPr bwMode="auto">
          <a:xfrm>
            <a:off x="548640" y="365760"/>
            <a:ext cx="10114489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Empirical Benchmarks: Hexagon NPU Superiority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81055710" name="Rounded Rectangle 4"/>
          <p:cNvSpPr/>
          <p:nvPr/>
        </p:nvSpPr>
        <p:spPr bwMode="auto">
          <a:xfrm>
            <a:off x="548640" y="146304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7.2x Speedup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123353564" name="Rounded Rectangle 5"/>
          <p:cNvSpPr/>
          <p:nvPr/>
        </p:nvSpPr>
        <p:spPr bwMode="auto">
          <a:xfrm>
            <a:off x="3383280" y="146304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10.1x Lower Power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68526775" name="Rounded Rectangle 6"/>
          <p:cNvSpPr/>
          <p:nvPr/>
        </p:nvSpPr>
        <p:spPr bwMode="auto">
          <a:xfrm>
            <a:off x="6217920" y="146304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22.5 hrs Battery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10252833" name="Rounded Rectangle 7"/>
          <p:cNvSpPr/>
          <p:nvPr/>
        </p:nvSpPr>
        <p:spPr bwMode="auto">
          <a:xfrm>
            <a:off x="9052560" y="146304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$0/mo Cloud Fee</a:t>
            </a:r>
            <a:endParaRPr>
              <a:latin typeface="Times New Roman"/>
              <a:cs typeface="Times New Roman"/>
            </a:endParaRPr>
          </a:p>
        </p:txBody>
      </p:sp>
      <p:graphicFrame>
        <p:nvGraphicFramePr>
          <p:cNvPr id="118490541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2926080"/>
          <a:ext cx="11094415" cy="2743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548640">
                <a:tc>
                  <a:txBody>
                    <a:bodyPr/>
                    <a:p>
                      <a:pPr>
                        <a:defRPr sz="1600" b="1">
                          <a:solidFill>
                            <a:srgbClr val="00D4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Workload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p>
                      <a:pPr>
                        <a:defRPr sz="1600" b="1">
                          <a:solidFill>
                            <a:srgbClr val="00D4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Snapdragon NPU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p>
                      <a:pPr>
                        <a:defRPr sz="1600" b="1">
                          <a:solidFill>
                            <a:srgbClr val="00D4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x86 CPU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p>
                      <a:pPr>
                        <a:defRPr sz="1600" b="1">
                          <a:solidFill>
                            <a:srgbClr val="00D4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Speedup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p>
                      <a:pPr>
                        <a:defRPr sz="1600" b="1">
                          <a:solidFill>
                            <a:srgbClr val="00D4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Power Saved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Whisper-Base ASR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11.8ms (2.8W)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84.5ms (28.0W)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7.2x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90%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Llama-3.2-3B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28.5ms (3.9W)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195.0ms (35.0W)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6.8x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89%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Embeddings (RAG)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6.2ms (2.3W)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46.0ms (24.0W)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7.4x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90%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YOLOv11-Nano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4.2ms (2.1W)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42.0ms (22.0W)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10.0x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90%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080C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667021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789569502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70362988" name="TextBox 3"/>
          <p:cNvSpPr txBox="1"/>
          <p:nvPr/>
        </p:nvSpPr>
        <p:spPr bwMode="auto">
          <a:xfrm>
            <a:off x="548640" y="365760"/>
            <a:ext cx="5592960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Deployment &amp; Accessibility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9630410" name="Rounded Rectangle 4"/>
          <p:cNvSpPr/>
          <p:nvPr/>
        </p:nvSpPr>
        <p:spPr bwMode="auto">
          <a:xfrm>
            <a:off x="54864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1. Plug &amp; Play QNN Runtime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Auto-detects Snapdragon hardware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58424041" name="Rounded Rectangle 5"/>
          <p:cNvSpPr/>
          <p:nvPr/>
        </p:nvSpPr>
        <p:spPr bwMode="auto">
          <a:xfrm>
            <a:off x="338328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2. Modern Web &amp; Desktop UI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FastAPI + glassmorphism dashboard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79970344" name="Rounded Rectangle 6"/>
          <p:cNvSpPr/>
          <p:nvPr/>
        </p:nvSpPr>
        <p:spPr bwMode="auto">
          <a:xfrm>
            <a:off x="621792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3. Automated Verification Suite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run_demo.py validates all modules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97600192" name="Rounded Rectangle 7"/>
          <p:cNvSpPr/>
          <p:nvPr/>
        </p:nvSpPr>
        <p:spPr bwMode="auto">
          <a:xfrm>
            <a:off x="9052560" y="1828800"/>
            <a:ext cx="2560320" cy="36576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4. Enterprise OEM Pre-load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Ready for HP OmniBook default image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752284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48179809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28022836" name="TextBox 3"/>
          <p:cNvSpPr txBox="1"/>
          <p:nvPr/>
        </p:nvSpPr>
        <p:spPr bwMode="auto">
          <a:xfrm>
            <a:off x="548640" y="365760"/>
            <a:ext cx="7040011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Market Impact &amp; Target Audience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61372821" name="Rounded Rectangle 4"/>
          <p:cNvSpPr/>
          <p:nvPr/>
        </p:nvSpPr>
        <p:spPr bwMode="auto">
          <a:xfrm>
            <a:off x="1463040" y="1828800"/>
            <a:ext cx="4114800" cy="18288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Enterprise &amp; Finance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Compliance-sensitive banks &amp; consultants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87855667" name="Rounded Rectangle 5"/>
          <p:cNvSpPr/>
          <p:nvPr/>
        </p:nvSpPr>
        <p:spPr bwMode="auto">
          <a:xfrm>
            <a:off x="6583680" y="1828800"/>
            <a:ext cx="4114800" cy="18288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Healthcare &amp; Legal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Offline transcription for patients &amp; depositions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086102914" name="Rounded Rectangle 6"/>
          <p:cNvSpPr/>
          <p:nvPr/>
        </p:nvSpPr>
        <p:spPr bwMode="auto">
          <a:xfrm>
            <a:off x="1463040" y="4114800"/>
            <a:ext cx="4114800" cy="18288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Defense &amp; Aerospace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Air-gapped military operations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9101022" name="Rounded Rectangle 7"/>
          <p:cNvSpPr/>
          <p:nvPr/>
        </p:nvSpPr>
        <p:spPr bwMode="auto">
          <a:xfrm>
            <a:off x="6583680" y="4114800"/>
            <a:ext cx="4114800" cy="18288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HP OmniBook Buyers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24-hour AI battery, personalized intelligence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647189" name="Rectangle 1"/>
          <p:cNvSpPr/>
          <p:nvPr/>
        </p:nvSpPr>
        <p:spPr bwMode="auto">
          <a:xfrm flipH="0" flipV="0">
            <a:off x="65205" y="46236"/>
            <a:ext cx="12061281" cy="6720321"/>
          </a:xfrm>
          <a:prstGeom prst="rect">
            <a:avLst/>
          </a:prstGeom>
          <a:solidFill>
            <a:srgbClr val="080C18"/>
          </a:solidFill>
          <a:ln>
            <a:solidFill>
              <a:srgbClr val="08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658185312" name="TextBox 2"/>
          <p:cNvSpPr txBox="1"/>
          <p:nvPr/>
        </p:nvSpPr>
        <p:spPr bwMode="auto">
          <a:xfrm>
            <a:off x="3410323" y="6400800"/>
            <a:ext cx="5374288" cy="244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Qualcomm Snapdragon® AI Lab Build &amp; Present Challenge • Solution Submission • September 2026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59559881" name="TextBox 3"/>
          <p:cNvSpPr txBox="1"/>
          <p:nvPr/>
        </p:nvSpPr>
        <p:spPr bwMode="auto">
          <a:xfrm>
            <a:off x="548640" y="365760"/>
            <a:ext cx="7297185" cy="64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Summary: Why OmniSnap AI Wins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23799526" name="Rounded Rectangle 4"/>
          <p:cNvSpPr/>
          <p:nvPr/>
        </p:nvSpPr>
        <p:spPr bwMode="auto">
          <a:xfrm>
            <a:off x="54864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Technical Implementation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Multi-model QNN pipeline from Qualcomm AI Hub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00713496" name="Rounded Rectangle 5"/>
          <p:cNvSpPr/>
          <p:nvPr/>
        </p:nvSpPr>
        <p:spPr bwMode="auto">
          <a:xfrm>
            <a:off x="338328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Application Use Case &amp; Innovation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Tackles privacy, offline usability, cloud cost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12229222" name="Rounded Rectangle 6"/>
          <p:cNvSpPr/>
          <p:nvPr/>
        </p:nvSpPr>
        <p:spPr bwMode="auto">
          <a:xfrm>
            <a:off x="621792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Deployment &amp; Accessibility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Cross-platform fallback, automated tests, intuitive UI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40464293" name="Rounded Rectangle 7"/>
          <p:cNvSpPr/>
          <p:nvPr/>
        </p:nvSpPr>
        <p:spPr bwMode="auto">
          <a:xfrm>
            <a:off x="9052560" y="1645920"/>
            <a:ext cx="2560320" cy="320040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Presentation &amp; Documentation</a:t>
            </a:r>
            <a:endParaRPr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400">
                <a:solidFill>
                  <a:srgbClr val="8892B0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Complete whitepaper, pitch deck, benchmarks, GitHub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71053800" name="TextBox 8"/>
          <p:cNvSpPr txBox="1"/>
          <p:nvPr/>
        </p:nvSpPr>
        <p:spPr bwMode="auto">
          <a:xfrm>
            <a:off x="2733259" y="5303520"/>
            <a:ext cx="6728414" cy="82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Thank you Qualcomm &amp; Snapdragon AI Lab!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>
                <a:latin typeface="Times New Roman"/>
                <a:ea typeface="Times New Roman"/>
                <a:cs typeface="Times New Roman"/>
              </a:rPr>
              <a:t>Ready for demo on Snapdragon-powered HP PCs.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lent Flow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2026-09-30T16:11:33Z</dcterms:modified>
  <cp:category/>
</cp:coreProperties>
</file>